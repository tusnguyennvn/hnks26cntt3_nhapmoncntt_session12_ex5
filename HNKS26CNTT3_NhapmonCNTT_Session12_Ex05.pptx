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245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2258466"/>
            <a:ext cx="159338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8BDF8"/>
                </a:solidFill>
              </a:rPr>
              <a:t>NETGUARD CYBER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82316"/>
            <a:ext cx="9101137" cy="12054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sz="3900" b="1" i="0" u="none" dirty="0" err="1">
                <a:solidFill>
                  <a:srgbClr val="F8FAFC"/>
                </a:solidFill>
              </a:rPr>
              <a:t>Chiến</a:t>
            </a:r>
            <a:r>
              <a:rPr sz="3900" b="1" i="0" u="none" dirty="0">
                <a:solidFill>
                  <a:srgbClr val="F8FAFC"/>
                </a:solidFill>
              </a:rPr>
              <a:t> </a:t>
            </a:r>
            <a:r>
              <a:rPr sz="3900" b="1" i="0" u="none" dirty="0" err="1">
                <a:solidFill>
                  <a:srgbClr val="F8FAFC"/>
                </a:solidFill>
              </a:rPr>
              <a:t>Lược</a:t>
            </a:r>
            <a:r>
              <a:rPr sz="3900" b="1" i="0" u="none" dirty="0">
                <a:solidFill>
                  <a:srgbClr val="F8FAFC"/>
                </a:solidFill>
              </a:rPr>
              <a:t> </a:t>
            </a:r>
            <a:r>
              <a:rPr sz="3900" b="1" i="0" u="none" dirty="0" err="1">
                <a:solidFill>
                  <a:srgbClr val="F8FAFC"/>
                </a:solidFill>
              </a:rPr>
              <a:t>Phòng</a:t>
            </a:r>
            <a:r>
              <a:rPr sz="3900" b="1" i="0" u="none" dirty="0">
                <a:solidFill>
                  <a:srgbClr val="F8FAFC"/>
                </a:solidFill>
              </a:rPr>
              <a:t> </a:t>
            </a:r>
            <a:r>
              <a:rPr sz="3900" b="1" i="0" u="none" dirty="0" err="1">
                <a:solidFill>
                  <a:srgbClr val="F8FAFC"/>
                </a:solidFill>
              </a:rPr>
              <a:t>Thủ</a:t>
            </a:r>
            <a:r>
              <a:rPr sz="3900" b="1" i="0" u="none" dirty="0">
                <a:solidFill>
                  <a:srgbClr val="F8FAFC"/>
                </a:solidFill>
              </a:rPr>
              <a:t> 3 </a:t>
            </a:r>
            <a:r>
              <a:rPr sz="3900" b="1" i="0" u="none" dirty="0" err="1">
                <a:solidFill>
                  <a:srgbClr val="F8FAFC"/>
                </a:solidFill>
              </a:rPr>
              <a:t>Tầng</a:t>
            </a:r>
            <a:r>
              <a:rPr sz="3900" b="1" i="0" u="none" dirty="0">
                <a:solidFill>
                  <a:srgbClr val="F8FAFC"/>
                </a:solidFill>
              </a:rPr>
              <a:t> &amp; </a:t>
            </a:r>
            <a:r>
              <a:rPr sz="3900" b="1" i="0" u="none" dirty="0" err="1">
                <a:solidFill>
                  <a:srgbClr val="F8FAFC"/>
                </a:solidFill>
              </a:rPr>
              <a:t>Báo</a:t>
            </a:r>
            <a:r>
              <a:rPr sz="3900" b="1" i="0" u="none" dirty="0">
                <a:solidFill>
                  <a:srgbClr val="F8FAFC"/>
                </a:solidFill>
              </a:rPr>
              <a:t> </a:t>
            </a:r>
            <a:r>
              <a:rPr sz="3900" b="1" i="0" u="none" dirty="0" err="1">
                <a:solidFill>
                  <a:srgbClr val="F8FAFC"/>
                </a:solidFill>
              </a:rPr>
              <a:t>Cáo</a:t>
            </a:r>
            <a:r>
              <a:rPr sz="3900" b="1" i="0" u="none" dirty="0">
                <a:solidFill>
                  <a:srgbClr val="F8FAFC"/>
                </a:solidFill>
              </a:rPr>
              <a:t> </a:t>
            </a:r>
            <a:r>
              <a:rPr sz="3900" b="1" i="0" u="none" dirty="0" err="1">
                <a:solidFill>
                  <a:srgbClr val="F8FAFC"/>
                </a:solidFill>
              </a:rPr>
              <a:t>Sự</a:t>
            </a:r>
            <a:r>
              <a:rPr sz="3900" b="1" i="0" u="none" dirty="0">
                <a:solidFill>
                  <a:srgbClr val="F8FAFC"/>
                </a:solidFill>
              </a:rPr>
              <a:t> </a:t>
            </a:r>
            <a:r>
              <a:rPr sz="3900" b="1" i="0" u="none" dirty="0" err="1">
                <a:solidFill>
                  <a:srgbClr val="F8FAFC"/>
                </a:solidFill>
              </a:rPr>
              <a:t>Cố</a:t>
            </a:r>
            <a:r>
              <a:rPr sz="3900" b="1" i="0" u="none" dirty="0">
                <a:solidFill>
                  <a:srgbClr val="F8FAFC"/>
                </a:solidFill>
              </a:rPr>
              <a:t> An </a:t>
            </a:r>
            <a:r>
              <a:rPr sz="3900" b="1" i="0" u="none" dirty="0" err="1">
                <a:solidFill>
                  <a:srgbClr val="F8FAFC"/>
                </a:solidFill>
              </a:rPr>
              <a:t>Ninh</a:t>
            </a:r>
            <a:r>
              <a:rPr sz="3900" b="1" i="0" u="none" dirty="0">
                <a:solidFill>
                  <a:srgbClr val="F8FAFC"/>
                </a:solidFill>
              </a:rPr>
              <a:t> </a:t>
            </a:r>
            <a:r>
              <a:rPr sz="3900" b="1" i="0" u="none" dirty="0" err="1">
                <a:solidFill>
                  <a:srgbClr val="F8FAFC"/>
                </a:solidFill>
              </a:rPr>
              <a:t>Mạng</a:t>
            </a:r>
            <a:endParaRPr sz="3900" b="1" i="0" u="none" dirty="0">
              <a:solidFill>
                <a:srgbClr val="F8FAFC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3999458"/>
            <a:ext cx="5415329" cy="256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</a:rPr>
              <a:t>Chuẩn hóa dữ liệu nhật ký hệ thống &amp; Tra cứu tự động mã độc qua VLOOKUP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87885"/>
            <a:ext cx="3505200" cy="1628775"/>
          </a:xfrm>
          <a:prstGeom prst="roundRect">
            <a:avLst>
              <a:gd name="adj" fmla="val 93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87885"/>
            <a:ext cx="3505200" cy="1628775"/>
          </a:xfrm>
          <a:prstGeom prst="roundRect">
            <a:avLst>
              <a:gd name="adj" fmla="val 93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87885"/>
            <a:ext cx="3505200" cy="1628775"/>
          </a:xfrm>
          <a:prstGeom prst="roundRect">
            <a:avLst>
              <a:gd name="adj" fmla="val 93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3986989" cy="3718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</a:rPr>
              <a:t>Chiến Lược Phòng Thủ Kết Hợp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99070"/>
            <a:ext cx="496578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</a:rPr>
              <a:t>Mô hình phòng thủ 3 tầng đảm bảo cách ly độc hại và bảo vệ dữ liệu tối thượng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364110"/>
            <a:ext cx="456856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</a:rPr>
              <a:t>TẦNG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630810"/>
            <a:ext cx="73257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</a:rPr>
              <a:t>Biên Giới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983235"/>
            <a:ext cx="3124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</a:rPr>
              <a:t>Firewall NGFW, WAF, IPS/IDS lọc bỏ toàn bộ lưu lượng tấn công từ Internet.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364110"/>
            <a:ext cx="456856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</a:rPr>
              <a:t>TẦNG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630810"/>
            <a:ext cx="103233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</a:rPr>
              <a:t>Mạng Nội Bộ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983235"/>
            <a:ext cx="3124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</a:rPr>
              <a:t>Giải pháp EDR, SIEM &amp; VLAN giám sát thời gian thực, cách ly Trojan &amp; Ransomware.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5325" y="3364110"/>
            <a:ext cx="456856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</a:rPr>
              <a:t>TẦNG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630810"/>
            <a:ext cx="133831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</a:rPr>
              <a:t>Bảo Mật Dữ Liệu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983235"/>
            <a:ext cx="3124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</a:rPr>
              <a:t>Mã hóa AES-256, Backup 3-2-1 &amp; SOC Escalation bảo vệ tài sản dữ liệu cốt lõi.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25935"/>
            <a:ext cx="5334000" cy="2076450"/>
          </a:xfrm>
          <a:prstGeom prst="roundRect">
            <a:avLst>
              <a:gd name="adj" fmla="val 73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725935"/>
            <a:ext cx="5334000" cy="2076450"/>
          </a:xfrm>
          <a:prstGeom prst="roundRect">
            <a:avLst>
              <a:gd name="adj" fmla="val 73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2025" y="307836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00825" y="307836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4315349" cy="3718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</a:rPr>
              <a:t>Chi Tiết Vận Hành Tầng 1 &amp; Tầng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611760"/>
            <a:ext cx="296497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</a:rPr>
              <a:t>Công nghệ cốt lõi:</a:t>
            </a:r>
            <a:r>
              <a:rPr sz="1200" b="0" i="0" u="none">
                <a:solidFill>
                  <a:srgbClr val="475569"/>
                </a:solidFill>
              </a:rPr>
              <a:t> Firewall NGFW, WAF, IPS/IDS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992760"/>
            <a:ext cx="472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</a:rPr>
              <a:t>Lọc bỏ toàn bộ lưu lượng độc hại, tấn công DDoS và quét cổng từ cửa ngõ Internet trước khi tiếp cận hạ tầng nội bộ.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611760"/>
            <a:ext cx="299338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</a:rPr>
              <a:t>Công nghệ cốt lõi:</a:t>
            </a:r>
            <a:r>
              <a:rPr sz="1200" b="0" i="0" u="none">
                <a:solidFill>
                  <a:srgbClr val="475569"/>
                </a:solidFill>
              </a:rPr>
              <a:t> EDR, SIEM &amp; Phân tách VLAN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992760"/>
            <a:ext cx="472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</a:rPr>
              <a:t>Giám sát thời gian thực các máy trạm/máy chủ. Tự động phát hiện và cách ly hành vi nghi vấn của Trojan và Ransomware.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176527"/>
            <a:ext cx="6667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7325" y="3149798"/>
            <a:ext cx="162223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</a:rPr>
              <a:t>Phòng Thủ Biên Giới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7950" y="3176527"/>
            <a:ext cx="6667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96125" y="3149798"/>
            <a:ext cx="197631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</a:rPr>
              <a:t>Mạng Nội Bộ &amp; Endpoint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59298"/>
            <a:ext cx="3454449" cy="1885950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959298"/>
            <a:ext cx="3454449" cy="1885950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959298"/>
            <a:ext cx="3454449" cy="1885950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350" y="3273623"/>
            <a:ext cx="3048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273623"/>
            <a:ext cx="3048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3799" y="3273623"/>
            <a:ext cx="34290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5296065" cy="3718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</a:rPr>
              <a:t>Tầng 3: Bảo Mật Dữ Liệu &amp; Quy Trình SOC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99070"/>
            <a:ext cx="395903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</a:rPr>
              <a:t>Bảo vệ tài sản dữ liệu cốt lõi và ứng cứu khẩn cấp từ chuyên 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43744" y="3768923"/>
            <a:ext cx="118615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</a:rPr>
              <a:t>Mã Hóa AES-256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0700" y="4102298"/>
            <a:ext cx="3532249" cy="218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</a:rPr>
              <a:t>Bảo vệ dữ liệu tối thượng tại chỗ và trên đường truyền.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0658" y="3768923"/>
            <a:ext cx="93083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</a:rPr>
              <a:t>Backup 3-2-1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9949" y="4102298"/>
            <a:ext cx="3532249" cy="218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</a:rPr>
              <a:t>Chiến lược sao lưu dự phòng chống mất mát dữ liệu.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8448" y="3768923"/>
            <a:ext cx="105375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</a:rPr>
              <a:t>SOC Escalation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9199" y="4102298"/>
            <a:ext cx="3532249" cy="218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</a:rPr>
              <a:t>Quy trình ứng cứu khẩn cấp từ đội ngũ chuyên gia.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64098"/>
            <a:ext cx="3505200" cy="1276350"/>
          </a:xfrm>
          <a:prstGeom prst="roundRect">
            <a:avLst>
              <a:gd name="adj" fmla="val 119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64098"/>
            <a:ext cx="3505200" cy="1276350"/>
          </a:xfrm>
          <a:prstGeom prst="roundRect">
            <a:avLst>
              <a:gd name="adj" fmla="val 119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264098"/>
            <a:ext cx="3505200" cy="1276350"/>
          </a:xfrm>
          <a:prstGeom prst="roundRect">
            <a:avLst>
              <a:gd name="adj" fmla="val 119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3732689" cy="3718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</a:rPr>
              <a:t>Cơ Chế Truy Vấn Dữ Liệu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99070"/>
            <a:ext cx="538910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</a:rPr>
              <a:t>AutoFilter đóng vai trò là 'Google Search của bảng tính' giúp khoanh vùng sự cố tức thì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540323"/>
            <a:ext cx="193482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</a:rPr>
              <a:t>Lọc Theo Mức Độ Nguy Hại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835598"/>
            <a:ext cx="3124200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</a:rPr>
              <a:t>Tách riêng ngay các cảnh báo nguy cấp (Cao) để xử lý nhanh trong 5 phút đầu.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525" y="3540323"/>
            <a:ext cx="132408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</a:rPr>
              <a:t>Lọc Theo IP Nguồn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835598"/>
            <a:ext cx="3124200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</a:rPr>
              <a:t>Khoanh vùng chính xác máy trạm bị nhiễm (VD: 192.168.1.105) để ngắt kết nối.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5325" y="3540323"/>
            <a:ext cx="143199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</a:rPr>
              <a:t>Kết Hợp Đa Tiêu Chí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5325" y="3835598"/>
            <a:ext cx="3124200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</a:rPr>
              <a:t>Kết hợp lọc mức độ nghiêm trọng và tình trạng để ưu tiên xử lý.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56942"/>
            <a:ext cx="3505200" cy="1490662"/>
          </a:xfrm>
          <a:prstGeom prst="roundRect">
            <a:avLst>
              <a:gd name="adj" fmla="val 102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64098"/>
            <a:ext cx="3505200" cy="1276350"/>
          </a:xfrm>
          <a:prstGeom prst="roundRect">
            <a:avLst>
              <a:gd name="adj" fmla="val 119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264098"/>
            <a:ext cx="3505200" cy="1276350"/>
          </a:xfrm>
          <a:prstGeom prst="roundRect">
            <a:avLst>
              <a:gd name="adj" fmla="val 119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3511410" cy="3718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</a:rPr>
              <a:t>Chuẩn Hóa Dữ Liệu Nhật Ký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99070"/>
            <a:ext cx="529106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</a:rPr>
              <a:t>Hàm TRIM bọc VLOOKUP giúp triệt tiêu lỗi #N/A do khoảng trắng thô từ hệ thống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433167"/>
            <a:ext cx="148931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</a:rPr>
              <a:t>TRIM(Lookup_value)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28442"/>
            <a:ext cx="3124200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</a:rPr>
              <a:t>Làm sạch ký tự khoảng trắng ở đầu và cuối mã độc (VD: ' MDL_2045 '), đưa về dạng chuẩn.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525" y="3540323"/>
            <a:ext cx="164506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</a:rPr>
              <a:t>VLOOKUP Tự động hóa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835598"/>
            <a:ext cx="3124200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</a:rPr>
              <a:t>Kết nối dữ liệu nhật ký thô với Cơ sở dữ liệu virus gốc, tự động điền Tên &amp; Mức độ.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5325" y="3540323"/>
            <a:ext cx="113967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</a:rPr>
              <a:t>IFERROR Bảo vệ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5325" y="3835598"/>
            <a:ext cx="3124200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</a:rPr>
              <a:t>Thay thế lỗi #N/A bằng thông báo 'Chưa xác định', đảm bảo báo cáo chuyên nghiệp.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488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Tú Nguyễnn</cp:lastModifiedBy>
  <cp:revision>3</cp:revision>
  <dcterms:created xsi:type="dcterms:W3CDTF">2013-01-27T09:14:16Z</dcterms:created>
  <dcterms:modified xsi:type="dcterms:W3CDTF">2026-10-26T16:39:51Z</dcterms:modified>
  <cp:category/>
</cp:coreProperties>
</file>